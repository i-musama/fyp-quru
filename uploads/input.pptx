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83" r:id="rId1"/>
  </p:sldMasterIdLst>
  <p:notesMasterIdLst>
    <p:notesMasterId r:id="rId17"/>
  </p:notesMasterIdLst>
  <p:sldIdLst>
    <p:sldId id="256" r:id="rId2"/>
    <p:sldId id="265" r:id="rId3"/>
    <p:sldId id="257" r:id="rId4"/>
    <p:sldId id="258" r:id="rId5"/>
    <p:sldId id="260" r:id="rId6"/>
    <p:sldId id="264" r:id="rId7"/>
    <p:sldId id="261" r:id="rId8"/>
    <p:sldId id="273" r:id="rId9"/>
    <p:sldId id="267" r:id="rId10"/>
    <p:sldId id="274" r:id="rId11"/>
    <p:sldId id="268" r:id="rId12"/>
    <p:sldId id="269" r:id="rId13"/>
    <p:sldId id="270" r:id="rId14"/>
    <p:sldId id="271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5E02EF-53EF-4BD0-963D-7C9F3BC87AD1}" type="doc">
      <dgm:prSet loTypeId="urn:microsoft.com/office/officeart/2005/8/layout/process1" loCatId="process" qsTypeId="urn:microsoft.com/office/officeart/2005/8/quickstyle/simple5" qsCatId="simple" csTypeId="urn:microsoft.com/office/officeart/2005/8/colors/colorful4" csCatId="colorful" phldr="1"/>
      <dgm:spPr/>
    </dgm:pt>
    <dgm:pt modelId="{973DDFBE-D595-45DF-9682-A17C36802CDF}">
      <dgm:prSet phldrT="[Text]" custT="1"/>
      <dgm:spPr/>
      <dgm:t>
        <a:bodyPr/>
        <a:lstStyle/>
        <a:p>
          <a:r>
            <a:rPr lang="en-US" sz="2900" b="1" dirty="0" smtClean="0"/>
            <a:t>Content</a:t>
          </a:r>
        </a:p>
        <a:p>
          <a:r>
            <a:rPr lang="en-US" sz="1800" dirty="0" smtClean="0"/>
            <a:t>(Input)</a:t>
          </a:r>
          <a:endParaRPr lang="en-US" sz="1800" dirty="0"/>
        </a:p>
      </dgm:t>
    </dgm:pt>
    <dgm:pt modelId="{FAC6A7E1-5E57-4D66-ACD2-21A22071DCCC}" type="parTrans" cxnId="{7F612ADD-4731-489C-845B-886488B65F23}">
      <dgm:prSet/>
      <dgm:spPr/>
      <dgm:t>
        <a:bodyPr/>
        <a:lstStyle/>
        <a:p>
          <a:endParaRPr lang="en-US"/>
        </a:p>
      </dgm:t>
    </dgm:pt>
    <dgm:pt modelId="{EEECFFC2-B533-4153-815D-71688884C5E9}" type="sibTrans" cxnId="{7F612ADD-4731-489C-845B-886488B65F23}">
      <dgm:prSet/>
      <dgm:spPr/>
      <dgm:t>
        <a:bodyPr/>
        <a:lstStyle/>
        <a:p>
          <a:endParaRPr lang="en-US"/>
        </a:p>
      </dgm:t>
    </dgm:pt>
    <dgm:pt modelId="{C5EE4308-0884-4C91-A199-79812718A14C}">
      <dgm:prSet phldrT="[Text]" custT="1"/>
      <dgm:spPr/>
      <dgm:t>
        <a:bodyPr/>
        <a:lstStyle/>
        <a:p>
          <a:r>
            <a:rPr lang="en-US" sz="2900" b="1" smtClean="0"/>
            <a:t>QURU</a:t>
          </a:r>
        </a:p>
        <a:p>
          <a:r>
            <a:rPr lang="en-US" sz="1800" smtClean="0"/>
            <a:t>(System)</a:t>
          </a:r>
          <a:endParaRPr lang="en-US" sz="1800" dirty="0"/>
        </a:p>
      </dgm:t>
    </dgm:pt>
    <dgm:pt modelId="{6D4264AF-C6A3-428D-93AC-7CF9103158AF}" type="parTrans" cxnId="{1A1BF017-25E0-425E-9B9B-143BECC769A9}">
      <dgm:prSet/>
      <dgm:spPr/>
      <dgm:t>
        <a:bodyPr/>
        <a:lstStyle/>
        <a:p>
          <a:endParaRPr lang="en-US"/>
        </a:p>
      </dgm:t>
    </dgm:pt>
    <dgm:pt modelId="{C279A7BF-09DC-416C-B161-6D46A6C35E7F}" type="sibTrans" cxnId="{1A1BF017-25E0-425E-9B9B-143BECC769A9}">
      <dgm:prSet/>
      <dgm:spPr/>
      <dgm:t>
        <a:bodyPr/>
        <a:lstStyle/>
        <a:p>
          <a:endParaRPr lang="en-US"/>
        </a:p>
      </dgm:t>
    </dgm:pt>
    <dgm:pt modelId="{7A7BA8C9-2B95-458B-B3C7-83D82FB83AFF}">
      <dgm:prSet phldrT="[Text]" custT="1"/>
      <dgm:spPr/>
      <dgm:t>
        <a:bodyPr/>
        <a:lstStyle/>
        <a:p>
          <a:r>
            <a:rPr lang="en-US" sz="2900" b="1" dirty="0" smtClean="0"/>
            <a:t>Q/A</a:t>
          </a:r>
        </a:p>
        <a:p>
          <a:r>
            <a:rPr lang="en-US" sz="1800" dirty="0" smtClean="0"/>
            <a:t>(Output)</a:t>
          </a:r>
          <a:endParaRPr lang="en-US" sz="1800" dirty="0"/>
        </a:p>
      </dgm:t>
    </dgm:pt>
    <dgm:pt modelId="{421A0F13-9275-4B77-B80B-101990CE6D6F}" type="parTrans" cxnId="{0E1E5012-4721-4D14-A6CD-E0DA1EA80439}">
      <dgm:prSet/>
      <dgm:spPr/>
      <dgm:t>
        <a:bodyPr/>
        <a:lstStyle/>
        <a:p>
          <a:endParaRPr lang="en-US"/>
        </a:p>
      </dgm:t>
    </dgm:pt>
    <dgm:pt modelId="{5685DF74-0BC9-42AD-8836-19C4147BC9DF}" type="sibTrans" cxnId="{0E1E5012-4721-4D14-A6CD-E0DA1EA80439}">
      <dgm:prSet/>
      <dgm:spPr/>
      <dgm:t>
        <a:bodyPr/>
        <a:lstStyle/>
        <a:p>
          <a:endParaRPr lang="en-US"/>
        </a:p>
      </dgm:t>
    </dgm:pt>
    <dgm:pt modelId="{F5AF62CC-F2A8-4A74-B503-C3372775A08D}" type="pres">
      <dgm:prSet presAssocID="{BD5E02EF-53EF-4BD0-963D-7C9F3BC87AD1}" presName="Name0" presStyleCnt="0">
        <dgm:presLayoutVars>
          <dgm:dir/>
          <dgm:resizeHandles val="exact"/>
        </dgm:presLayoutVars>
      </dgm:prSet>
      <dgm:spPr/>
    </dgm:pt>
    <dgm:pt modelId="{11A9DEE4-D586-4028-90DD-2BF852A24232}" type="pres">
      <dgm:prSet presAssocID="{973DDFBE-D595-45DF-9682-A17C36802CDF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AC806C-8193-4581-9A90-6DDFECD4BF39}" type="pres">
      <dgm:prSet presAssocID="{EEECFFC2-B533-4153-815D-71688884C5E9}" presName="sibTrans" presStyleLbl="sibTrans2D1" presStyleIdx="0" presStyleCnt="2"/>
      <dgm:spPr/>
      <dgm:t>
        <a:bodyPr/>
        <a:lstStyle/>
        <a:p>
          <a:endParaRPr lang="en-US"/>
        </a:p>
      </dgm:t>
    </dgm:pt>
    <dgm:pt modelId="{F8CE430B-913E-4A68-AB11-FD250CD7A2DB}" type="pres">
      <dgm:prSet presAssocID="{EEECFFC2-B533-4153-815D-71688884C5E9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BB423428-B52A-4AE1-8AF9-1525B30502ED}" type="pres">
      <dgm:prSet presAssocID="{C5EE4308-0884-4C91-A199-79812718A14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B0BFA0-0FBE-4B21-8A2A-8E26FC3D256A}" type="pres">
      <dgm:prSet presAssocID="{C279A7BF-09DC-416C-B161-6D46A6C35E7F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BFC58E9-0269-4CE8-9E11-05B6EE8F8E28}" type="pres">
      <dgm:prSet presAssocID="{C279A7BF-09DC-416C-B161-6D46A6C35E7F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5B8A533D-A277-4AA8-BF2F-90C666C44121}" type="pres">
      <dgm:prSet presAssocID="{7A7BA8C9-2B95-458B-B3C7-83D82FB83AFF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79CC7DA-E3FF-4791-A176-B39E993B8B97}" type="presOf" srcId="{973DDFBE-D595-45DF-9682-A17C36802CDF}" destId="{11A9DEE4-D586-4028-90DD-2BF852A24232}" srcOrd="0" destOrd="0" presId="urn:microsoft.com/office/officeart/2005/8/layout/process1"/>
    <dgm:cxn modelId="{0E1E5012-4721-4D14-A6CD-E0DA1EA80439}" srcId="{BD5E02EF-53EF-4BD0-963D-7C9F3BC87AD1}" destId="{7A7BA8C9-2B95-458B-B3C7-83D82FB83AFF}" srcOrd="2" destOrd="0" parTransId="{421A0F13-9275-4B77-B80B-101990CE6D6F}" sibTransId="{5685DF74-0BC9-42AD-8836-19C4147BC9DF}"/>
    <dgm:cxn modelId="{A17492BD-F30C-4D5D-94B9-FFA4B47D4A76}" type="presOf" srcId="{BD5E02EF-53EF-4BD0-963D-7C9F3BC87AD1}" destId="{F5AF62CC-F2A8-4A74-B503-C3372775A08D}" srcOrd="0" destOrd="0" presId="urn:microsoft.com/office/officeart/2005/8/layout/process1"/>
    <dgm:cxn modelId="{0A10F1EF-B360-4292-B65B-0C231EC1DA9B}" type="presOf" srcId="{C5EE4308-0884-4C91-A199-79812718A14C}" destId="{BB423428-B52A-4AE1-8AF9-1525B30502ED}" srcOrd="0" destOrd="0" presId="urn:microsoft.com/office/officeart/2005/8/layout/process1"/>
    <dgm:cxn modelId="{F744D831-5327-4F1E-994A-BA4AD16C605F}" type="presOf" srcId="{C279A7BF-09DC-416C-B161-6D46A6C35E7F}" destId="{ACB0BFA0-0FBE-4B21-8A2A-8E26FC3D256A}" srcOrd="0" destOrd="0" presId="urn:microsoft.com/office/officeart/2005/8/layout/process1"/>
    <dgm:cxn modelId="{845CD6CC-DA44-439C-803D-91FA571A4F0B}" type="presOf" srcId="{EEECFFC2-B533-4153-815D-71688884C5E9}" destId="{F8CE430B-913E-4A68-AB11-FD250CD7A2DB}" srcOrd="1" destOrd="0" presId="urn:microsoft.com/office/officeart/2005/8/layout/process1"/>
    <dgm:cxn modelId="{C1840B4B-CF20-4118-8889-6BDAB2B01FE8}" type="presOf" srcId="{EEECFFC2-B533-4153-815D-71688884C5E9}" destId="{33AC806C-8193-4581-9A90-6DDFECD4BF39}" srcOrd="0" destOrd="0" presId="urn:microsoft.com/office/officeart/2005/8/layout/process1"/>
    <dgm:cxn modelId="{7F612ADD-4731-489C-845B-886488B65F23}" srcId="{BD5E02EF-53EF-4BD0-963D-7C9F3BC87AD1}" destId="{973DDFBE-D595-45DF-9682-A17C36802CDF}" srcOrd="0" destOrd="0" parTransId="{FAC6A7E1-5E57-4D66-ACD2-21A22071DCCC}" sibTransId="{EEECFFC2-B533-4153-815D-71688884C5E9}"/>
    <dgm:cxn modelId="{A668F4F8-7651-402C-94CA-31A5F38D9154}" type="presOf" srcId="{C279A7BF-09DC-416C-B161-6D46A6C35E7F}" destId="{7BFC58E9-0269-4CE8-9E11-05B6EE8F8E28}" srcOrd="1" destOrd="0" presId="urn:microsoft.com/office/officeart/2005/8/layout/process1"/>
    <dgm:cxn modelId="{1A1BF017-25E0-425E-9B9B-143BECC769A9}" srcId="{BD5E02EF-53EF-4BD0-963D-7C9F3BC87AD1}" destId="{C5EE4308-0884-4C91-A199-79812718A14C}" srcOrd="1" destOrd="0" parTransId="{6D4264AF-C6A3-428D-93AC-7CF9103158AF}" sibTransId="{C279A7BF-09DC-416C-B161-6D46A6C35E7F}"/>
    <dgm:cxn modelId="{4691421D-55FE-4DDD-A111-35285C46FAA7}" type="presOf" srcId="{7A7BA8C9-2B95-458B-B3C7-83D82FB83AFF}" destId="{5B8A533D-A277-4AA8-BF2F-90C666C44121}" srcOrd="0" destOrd="0" presId="urn:microsoft.com/office/officeart/2005/8/layout/process1"/>
    <dgm:cxn modelId="{0F172D42-E72D-4456-81EF-F61CBA46E969}" type="presParOf" srcId="{F5AF62CC-F2A8-4A74-B503-C3372775A08D}" destId="{11A9DEE4-D586-4028-90DD-2BF852A24232}" srcOrd="0" destOrd="0" presId="urn:microsoft.com/office/officeart/2005/8/layout/process1"/>
    <dgm:cxn modelId="{03B423C7-A10B-40C5-B5B1-B373B48509ED}" type="presParOf" srcId="{F5AF62CC-F2A8-4A74-B503-C3372775A08D}" destId="{33AC806C-8193-4581-9A90-6DDFECD4BF39}" srcOrd="1" destOrd="0" presId="urn:microsoft.com/office/officeart/2005/8/layout/process1"/>
    <dgm:cxn modelId="{1D0D5F07-CA6D-469B-BB51-2B0C8B9F1380}" type="presParOf" srcId="{33AC806C-8193-4581-9A90-6DDFECD4BF39}" destId="{F8CE430B-913E-4A68-AB11-FD250CD7A2DB}" srcOrd="0" destOrd="0" presId="urn:microsoft.com/office/officeart/2005/8/layout/process1"/>
    <dgm:cxn modelId="{7E3D1485-14F4-4410-AC81-9076CD250B58}" type="presParOf" srcId="{F5AF62CC-F2A8-4A74-B503-C3372775A08D}" destId="{BB423428-B52A-4AE1-8AF9-1525B30502ED}" srcOrd="2" destOrd="0" presId="urn:microsoft.com/office/officeart/2005/8/layout/process1"/>
    <dgm:cxn modelId="{33AE45DC-4CE7-460B-82AA-59C8F26D59FE}" type="presParOf" srcId="{F5AF62CC-F2A8-4A74-B503-C3372775A08D}" destId="{ACB0BFA0-0FBE-4B21-8A2A-8E26FC3D256A}" srcOrd="3" destOrd="0" presId="urn:microsoft.com/office/officeart/2005/8/layout/process1"/>
    <dgm:cxn modelId="{B3E81BEC-1B0A-47B6-84B9-379A97560A0D}" type="presParOf" srcId="{ACB0BFA0-0FBE-4B21-8A2A-8E26FC3D256A}" destId="{7BFC58E9-0269-4CE8-9E11-05B6EE8F8E28}" srcOrd="0" destOrd="0" presId="urn:microsoft.com/office/officeart/2005/8/layout/process1"/>
    <dgm:cxn modelId="{1BE4ECBA-C981-41FA-ACB9-F4A2DE9B55CE}" type="presParOf" srcId="{F5AF62CC-F2A8-4A74-B503-C3372775A08D}" destId="{5B8A533D-A277-4AA8-BF2F-90C666C4412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A9DEE4-D586-4028-90DD-2BF852A24232}">
      <dsp:nvSpPr>
        <dsp:cNvPr id="0" name=""/>
        <dsp:cNvSpPr/>
      </dsp:nvSpPr>
      <dsp:spPr>
        <a:xfrm>
          <a:off x="7143" y="678015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/>
            <a:t>Content</a:t>
          </a:r>
        </a:p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(Input)</a:t>
          </a:r>
          <a:endParaRPr lang="en-US" sz="1800" kern="1200" dirty="0"/>
        </a:p>
      </dsp:txBody>
      <dsp:txXfrm>
        <a:off x="44665" y="715537"/>
        <a:ext cx="2060143" cy="1206068"/>
      </dsp:txXfrm>
    </dsp:sp>
    <dsp:sp modelId="{33AC806C-8193-4581-9A90-6DDFECD4BF39}">
      <dsp:nvSpPr>
        <dsp:cNvPr id="0" name=""/>
        <dsp:cNvSpPr/>
      </dsp:nvSpPr>
      <dsp:spPr>
        <a:xfrm>
          <a:off x="2355850" y="1053808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/>
        </a:p>
      </dsp:txBody>
      <dsp:txXfrm>
        <a:off x="2355850" y="1159713"/>
        <a:ext cx="316861" cy="317716"/>
      </dsp:txXfrm>
    </dsp:sp>
    <dsp:sp modelId="{BB423428-B52A-4AE1-8AF9-1525B30502ED}">
      <dsp:nvSpPr>
        <dsp:cNvPr id="0" name=""/>
        <dsp:cNvSpPr/>
      </dsp:nvSpPr>
      <dsp:spPr>
        <a:xfrm>
          <a:off x="2996406" y="678015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tint val="96000"/>
                <a:lumMod val="104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smtClean="0"/>
            <a:t>QURU</a:t>
          </a:r>
        </a:p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(System)</a:t>
          </a:r>
          <a:endParaRPr lang="en-US" sz="1800" kern="1200" dirty="0"/>
        </a:p>
      </dsp:txBody>
      <dsp:txXfrm>
        <a:off x="3033928" y="715537"/>
        <a:ext cx="2060143" cy="1206068"/>
      </dsp:txXfrm>
    </dsp:sp>
    <dsp:sp modelId="{ACB0BFA0-0FBE-4B21-8A2A-8E26FC3D256A}">
      <dsp:nvSpPr>
        <dsp:cNvPr id="0" name=""/>
        <dsp:cNvSpPr/>
      </dsp:nvSpPr>
      <dsp:spPr>
        <a:xfrm>
          <a:off x="5345112" y="1053808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tint val="96000"/>
                <a:lumMod val="104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/>
        </a:p>
      </dsp:txBody>
      <dsp:txXfrm>
        <a:off x="5345112" y="1159713"/>
        <a:ext cx="316861" cy="317716"/>
      </dsp:txXfrm>
    </dsp:sp>
    <dsp:sp modelId="{5B8A533D-A277-4AA8-BF2F-90C666C44121}">
      <dsp:nvSpPr>
        <dsp:cNvPr id="0" name=""/>
        <dsp:cNvSpPr/>
      </dsp:nvSpPr>
      <dsp:spPr>
        <a:xfrm>
          <a:off x="5985668" y="678015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tint val="96000"/>
                <a:lumMod val="104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 prst="hardEdge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/>
            <a:t>Q/A</a:t>
          </a:r>
        </a:p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(Output)</a:t>
          </a:r>
          <a:endParaRPr lang="en-US" sz="1800" kern="1200" dirty="0"/>
        </a:p>
      </dsp:txBody>
      <dsp:txXfrm>
        <a:off x="6023190" y="715537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F3A76-965C-4C12-84E2-E0F33079E068}" type="datetimeFigureOut">
              <a:rPr lang="en-US" smtClean="0"/>
              <a:t>3/19/2019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4EFD6-BE1C-442E-B13F-723121014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62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84EFD6-BE1C-442E-B13F-7231210148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75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8F58-60A6-45C1-A228-10309992B16F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964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5665-E098-4FE8-B8F6-9C02AF25F2B3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195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CDE4-49FB-4BB7-AB85-8CD757130763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24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714E-F0B1-431F-B625-79D7CFF58B22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2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50A7-D608-49AB-95F4-DDB48D80B388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93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F5CB-185C-4344-90ED-416209711C93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84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3F4F-C5F9-4639-B406-276D468775EF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029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BD06-A8B9-47A1-87B0-90FFFF2F102F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0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1A88C-0E4B-446F-A4B3-59612822288A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06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E6D7-412A-442A-92F2-3BF889D3F3EB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33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3E4-67C8-488F-8A01-F44964D122CE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118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695FA-FA51-4ACA-AEE5-5351B8DA78D6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7010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91258-7F2C-4D6A-A81C-2891BF679050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577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AAF1-137A-4863-9283-E4D5D333184E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978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4704-B3AE-4560-8F86-F4496DC538CB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660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B166-9D51-48A0-99FA-2A896EE7B9BA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810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151BE-DBD7-4146-AE54-6B3EEE9EB602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4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F4577F6-740D-4FAD-8A57-6FA05BF945D3}" type="datetime1">
              <a:rPr lang="en-US" smtClean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361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7" r:id="rId14"/>
    <p:sldLayoutId id="2147483898" r:id="rId15"/>
    <p:sldLayoutId id="2147483899" r:id="rId16"/>
    <p:sldLayoutId id="2147483900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697831"/>
            <a:ext cx="8791575" cy="23876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sz="4000" dirty="0" smtClean="0"/>
              <a:t>QURU (Question Guru) 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4215647"/>
            <a:ext cx="8791575" cy="2485941"/>
          </a:xfrm>
        </p:spPr>
        <p:txBody>
          <a:bodyPr>
            <a:normAutofit/>
          </a:bodyPr>
          <a:lstStyle/>
          <a:p>
            <a:r>
              <a:rPr lang="en-US" b="1" dirty="0" smtClean="0"/>
              <a:t>Members: Mohammad Usama &amp; Muhammad Ahzam</a:t>
            </a:r>
          </a:p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Supervisor: Dr.  Abdul </a:t>
            </a:r>
            <a:r>
              <a:rPr lang="en-US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Rehman</a:t>
            </a: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Gilal</a:t>
            </a:r>
            <a:endParaRPr lang="en-US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Co-supervisor: Miss </a:t>
            </a:r>
            <a:r>
              <a:rPr lang="en-US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Shafaq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1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Agenda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Problem Statement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Solution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Literature Review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Scope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Methodology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Dataset</a:t>
            </a:r>
          </a:p>
          <a:p>
            <a:r>
              <a:rPr lang="en-US" dirty="0">
                <a:solidFill>
                  <a:schemeClr val="tx1"/>
                </a:solidFill>
              </a:rPr>
              <a:t>Architecture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Challenges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Gantt Chart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Demo</a:t>
            </a:r>
            <a:endParaRPr lang="en-US" dirty="0" smtClean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21632"/>
            <a:ext cx="10353762" cy="97045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Problem Statement 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" indent="0">
              <a:buNone/>
            </a:pPr>
            <a:endParaRPr lang="en-US" sz="2800" dirty="0" smtClean="0">
              <a:solidFill>
                <a:schemeClr val="tx1"/>
              </a:solidFill>
            </a:endParaRPr>
          </a:p>
          <a:p>
            <a:r>
              <a:rPr lang="en-US" sz="2800" dirty="0" smtClean="0">
                <a:solidFill>
                  <a:schemeClr val="tx1"/>
                </a:solidFill>
              </a:rPr>
              <a:t>Instructors are involved in various activities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Such as teaching</a:t>
            </a:r>
            <a:r>
              <a:rPr lang="en-US" sz="2400" dirty="0">
                <a:solidFill>
                  <a:schemeClr val="tx1"/>
                </a:solidFill>
              </a:rPr>
              <a:t>, management responsibilities, student counselling and their </a:t>
            </a:r>
            <a:r>
              <a:rPr lang="en-US" sz="2400" dirty="0" smtClean="0">
                <a:solidFill>
                  <a:schemeClr val="tx1"/>
                </a:solidFill>
              </a:rPr>
              <a:t>self-development</a:t>
            </a:r>
          </a:p>
          <a:p>
            <a:r>
              <a:rPr lang="en-US" sz="2800" b="1" dirty="0" smtClean="0">
                <a:solidFill>
                  <a:schemeClr val="tx1"/>
                </a:solidFill>
              </a:rPr>
              <a:t>Spending Hours in making Questions papers for quizzes or exams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Keeping </a:t>
            </a:r>
            <a:r>
              <a:rPr lang="en-US" sz="2800" dirty="0">
                <a:solidFill>
                  <a:schemeClr val="tx1"/>
                </a:solidFill>
              </a:rPr>
              <a:t>the busy scheduling in view, teachers could greatly be benefitted from an </a:t>
            </a:r>
            <a:r>
              <a:rPr lang="en-US" sz="2800" b="1" dirty="0">
                <a:solidFill>
                  <a:schemeClr val="tx1"/>
                </a:solidFill>
              </a:rPr>
              <a:t>Automated Question Answering </a:t>
            </a:r>
            <a:r>
              <a:rPr lang="en-US" sz="2800" b="1" dirty="0" smtClean="0">
                <a:solidFill>
                  <a:schemeClr val="tx1"/>
                </a:solidFill>
              </a:rPr>
              <a:t>System</a:t>
            </a:r>
          </a:p>
          <a:p>
            <a:pPr marL="45720" indent="0">
              <a:buNone/>
            </a:pPr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endParaRPr lang="en-US" sz="2800" b="1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en-US" sz="2400" dirty="0" smtClean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53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Solution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QURU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It will take content from you as input, and will give you questions and answers as output </a:t>
            </a:r>
            <a:endParaRPr lang="en-US" sz="2800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503068752"/>
              </p:ext>
            </p:extLst>
          </p:nvPr>
        </p:nvGraphicFramePr>
        <p:xfrm>
          <a:off x="2015435" y="3458856"/>
          <a:ext cx="8128000" cy="2637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9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Literature Review </a:t>
            </a:r>
            <a:endParaRPr lang="en-US" sz="5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38" y="2840912"/>
            <a:ext cx="11429553" cy="1827339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36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Scope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Initially we are planning to create for only </a:t>
            </a:r>
            <a:r>
              <a:rPr lang="en-US" sz="2400" b="1" dirty="0" smtClean="0">
                <a:solidFill>
                  <a:schemeClr val="tx1"/>
                </a:solidFill>
              </a:rPr>
              <a:t>one</a:t>
            </a:r>
            <a:r>
              <a:rPr lang="en-US" sz="2400" dirty="0" smtClean="0">
                <a:solidFill>
                  <a:schemeClr val="tx1"/>
                </a:solidFill>
              </a:rPr>
              <a:t> Subject</a:t>
            </a:r>
          </a:p>
          <a:p>
            <a:pPr lvl="1"/>
            <a:r>
              <a:rPr lang="en-US" sz="2000" dirty="0" err="1" smtClean="0">
                <a:solidFill>
                  <a:schemeClr val="tx1"/>
                </a:solidFill>
              </a:rPr>
              <a:t>Blockchain</a:t>
            </a: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We are intending to generate </a:t>
            </a:r>
            <a:r>
              <a:rPr lang="en-US" sz="2400" b="1" dirty="0" smtClean="0">
                <a:solidFill>
                  <a:schemeClr val="tx1"/>
                </a:solidFill>
              </a:rPr>
              <a:t>factual questions</a:t>
            </a:r>
            <a:r>
              <a:rPr lang="en-US" sz="2400" dirty="0" smtClean="0">
                <a:solidFill>
                  <a:schemeClr val="tx1"/>
                </a:solidFill>
              </a:rPr>
              <a:t> only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Example: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</a:rPr>
              <a:t>Content</a:t>
            </a:r>
            <a:r>
              <a:rPr lang="en-US" sz="2000" dirty="0" smtClean="0">
                <a:solidFill>
                  <a:schemeClr val="tx1"/>
                </a:solidFill>
              </a:rPr>
              <a:t>: Since </a:t>
            </a:r>
            <a:r>
              <a:rPr lang="en-US" sz="2000" dirty="0">
                <a:solidFill>
                  <a:schemeClr val="tx1"/>
                </a:solidFill>
              </a:rPr>
              <a:t>1934 , the sale of Federal Duck Stamps has </a:t>
            </a:r>
            <a:r>
              <a:rPr lang="en-US" sz="2000" dirty="0" smtClean="0">
                <a:solidFill>
                  <a:schemeClr val="tx1"/>
                </a:solidFill>
              </a:rPr>
              <a:t>generated $</a:t>
            </a:r>
            <a:r>
              <a:rPr lang="en-US" sz="2000" dirty="0">
                <a:solidFill>
                  <a:schemeClr val="tx1"/>
                </a:solidFill>
              </a:rPr>
              <a:t>670million, and helped to purchase or lease 5,200,000 acres ( 8,100 </a:t>
            </a:r>
            <a:r>
              <a:rPr lang="en-US" sz="2000" dirty="0" err="1">
                <a:solidFill>
                  <a:schemeClr val="tx1"/>
                </a:solidFill>
              </a:rPr>
              <a:t>sq</a:t>
            </a:r>
            <a:r>
              <a:rPr lang="en-US" sz="2000" dirty="0">
                <a:solidFill>
                  <a:schemeClr val="tx1"/>
                </a:solidFill>
              </a:rPr>
              <a:t> mi ; 21,000 km2 ) of habitat 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b="1" dirty="0" smtClean="0">
                <a:solidFill>
                  <a:schemeClr val="tx1"/>
                </a:solidFill>
              </a:rPr>
              <a:t>Question</a:t>
            </a:r>
            <a:r>
              <a:rPr lang="en-US" sz="2000" dirty="0">
                <a:solidFill>
                  <a:schemeClr val="tx1"/>
                </a:solidFill>
              </a:rPr>
              <a:t>: How much money has been generated due to the Duck Stamp act ?</a:t>
            </a:r>
          </a:p>
          <a:p>
            <a:pPr lvl="1"/>
            <a:r>
              <a:rPr lang="en-US" sz="2000" b="1" dirty="0" smtClean="0">
                <a:solidFill>
                  <a:schemeClr val="tx1"/>
                </a:solidFill>
              </a:rPr>
              <a:t>Answer</a:t>
            </a:r>
            <a:r>
              <a:rPr lang="en-US" sz="2000" dirty="0">
                <a:solidFill>
                  <a:schemeClr val="tx1"/>
                </a:solidFill>
              </a:rPr>
              <a:t>:  $670 million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9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6163" y="336884"/>
            <a:ext cx="5934949" cy="1200008"/>
          </a:xfrm>
        </p:spPr>
        <p:txBody>
          <a:bodyPr>
            <a:normAutofit/>
          </a:bodyPr>
          <a:lstStyle/>
          <a:p>
            <a:pPr algn="l"/>
            <a:r>
              <a:rPr lang="en-US" sz="5400" dirty="0" smtClean="0"/>
              <a:t>Methodology</a:t>
            </a:r>
            <a:endParaRPr lang="en-US" sz="54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half" idx="2"/>
          </p:nvPr>
        </p:nvSpPr>
        <p:spPr>
          <a:xfrm>
            <a:off x="913793" y="2102377"/>
            <a:ext cx="5934949" cy="427436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600" dirty="0" smtClean="0"/>
              <a:t>Extracting content from slide.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 err="1" smtClean="0"/>
              <a:t>PPTx</a:t>
            </a:r>
            <a:r>
              <a:rPr lang="en-US" sz="2200" dirty="0" smtClean="0"/>
              <a:t> (Python Library).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600" dirty="0" smtClean="0"/>
              <a:t>Extracting Keywords.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RAKE (NLP).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600" dirty="0" smtClean="0"/>
              <a:t>Web Scrapping.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Beautiful Soap.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600" dirty="0" smtClean="0"/>
              <a:t>For MCQs Distractors: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 err="1" smtClean="0"/>
              <a:t>WordToVec</a:t>
            </a:r>
            <a:r>
              <a:rPr lang="en-US" sz="1500" dirty="0" smtClean="0"/>
              <a:t>.</a:t>
            </a:r>
          </a:p>
          <a:p>
            <a:pPr algn="l"/>
            <a:endParaRPr lang="en-US" dirty="0" smtClean="0"/>
          </a:p>
        </p:txBody>
      </p:sp>
      <p:pic>
        <p:nvPicPr>
          <p:cNvPr id="13" name="Picture Placeholder 12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" b="-437"/>
          <a:stretch/>
        </p:blipFill>
        <p:spPr>
          <a:xfrm>
            <a:off x="7340253" y="763701"/>
            <a:ext cx="3519814" cy="5060901"/>
          </a:xfrm>
          <a:prstGeom prst="round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79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 smtClean="0"/>
              <a:t>DATASET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524463"/>
              </p:ext>
            </p:extLst>
          </p:nvPr>
        </p:nvGraphicFramePr>
        <p:xfrm>
          <a:off x="1179096" y="2777065"/>
          <a:ext cx="9793703" cy="2014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815"/>
                <a:gridCol w="1670268"/>
                <a:gridCol w="1371600"/>
                <a:gridCol w="2249905"/>
                <a:gridCol w="1780674"/>
                <a:gridCol w="1311441"/>
              </a:tblGrid>
              <a:tr h="97778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Name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Question Source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Paragraphs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Answerable Questions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(Pair)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Un-Answerable Questions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F1</a:t>
                      </a:r>
                      <a:r>
                        <a:rPr lang="en-US" baseline="0" dirty="0" smtClean="0"/>
                        <a:t> Score</a:t>
                      </a:r>
                      <a:endParaRPr lang="en-US" dirty="0"/>
                    </a:p>
                  </a:txBody>
                  <a:tcPr anchor="ctr"/>
                </a:tc>
              </a:tr>
              <a:tr h="396545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SQuAD</a:t>
                      </a:r>
                      <a:r>
                        <a:rPr lang="en-US" baseline="0" dirty="0" smtClean="0"/>
                        <a:t> 1.1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Crowd</a:t>
                      </a:r>
                      <a:r>
                        <a:rPr lang="en-US" baseline="0" dirty="0" smtClean="0"/>
                        <a:t> Source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536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107,785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86%</a:t>
                      </a:r>
                      <a:endParaRPr lang="en-US" dirty="0"/>
                    </a:p>
                  </a:txBody>
                  <a:tcPr anchor="ctr"/>
                </a:tc>
              </a:tr>
              <a:tr h="396545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SQuAD</a:t>
                      </a:r>
                      <a:r>
                        <a:rPr lang="en-US" baseline="0" dirty="0" smtClean="0"/>
                        <a:t> 2.0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Crowd</a:t>
                      </a:r>
                      <a:r>
                        <a:rPr lang="en-US" baseline="0" dirty="0" smtClean="0"/>
                        <a:t> Source</a:t>
                      </a:r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536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107,785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50,000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66%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52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System Architecture</a:t>
            </a:r>
            <a:endParaRPr lang="en-US" sz="5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540" y="1731963"/>
            <a:ext cx="6765395" cy="405923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16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DETAIL ARCHITECTURE</a:t>
            </a:r>
            <a:endParaRPr lang="en-US" sz="5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405" y="1834391"/>
            <a:ext cx="4320354" cy="475239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98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4973053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smtClean="0"/>
              <a:t>Use Case:</a:t>
            </a:r>
            <a:br>
              <a:rPr lang="en-US" sz="5400" dirty="0" smtClean="0"/>
            </a:b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2800" dirty="0"/>
              <a:t>U</a:t>
            </a:r>
            <a:r>
              <a:rPr lang="en-US" sz="2800" dirty="0" smtClean="0"/>
              <a:t>pload Content</a:t>
            </a:r>
            <a:br>
              <a:rPr lang="en-US" sz="2800" dirty="0" smtClean="0"/>
            </a:br>
            <a:r>
              <a:rPr lang="en-US" sz="2800" dirty="0" smtClean="0"/>
              <a:t>Generate Questions</a:t>
            </a:r>
            <a:br>
              <a:rPr lang="en-US" sz="2800" dirty="0" smtClean="0"/>
            </a:br>
            <a:r>
              <a:rPr lang="en-US" sz="2800" dirty="0" smtClean="0"/>
              <a:t>Preview Questions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2800" dirty="0" smtClean="0"/>
              <a:t>Print Questions.</a:t>
            </a:r>
            <a:r>
              <a:rPr lang="en-US" sz="5400" dirty="0" smtClean="0"/>
              <a:t/>
            </a:r>
            <a:br>
              <a:rPr lang="en-US" sz="5400" dirty="0" smtClean="0"/>
            </a:br>
            <a:endParaRPr lang="en-US" sz="5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994" y="517358"/>
            <a:ext cx="6426206" cy="5450337"/>
          </a:xfrm>
          <a:ln w="76200">
            <a:solidFill>
              <a:srgbClr val="002060"/>
            </a:solidFill>
          </a:ln>
          <a:effectLst>
            <a:outerShdw blurRad="25400" dir="17880000">
              <a:srgbClr val="000000">
                <a:alpha val="46000"/>
              </a:srgbClr>
            </a:outerShdw>
            <a:reflection endPos="0" dist="50800" dir="5400000" sy="-100000" algn="bl" rotWithShape="0"/>
            <a:softEdge rad="1270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85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5711" y="605750"/>
            <a:ext cx="10353762" cy="970450"/>
          </a:xfrm>
        </p:spPr>
        <p:txBody>
          <a:bodyPr>
            <a:normAutofit/>
          </a:bodyPr>
          <a:lstStyle/>
          <a:p>
            <a:pPr algn="l"/>
            <a:r>
              <a:rPr lang="en-US" sz="5400" dirty="0" smtClean="0"/>
              <a:t>Class Diagram </a:t>
            </a:r>
            <a:endParaRPr lang="en-US" sz="5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181" y="1712398"/>
            <a:ext cx="6185316" cy="4786562"/>
          </a:xfrm>
          <a:ln w="76200">
            <a:solidFill>
              <a:srgbClr val="002060"/>
            </a:solidFill>
          </a:ln>
          <a:effectLst>
            <a:outerShdw blurRad="25400" dir="17880000">
              <a:srgbClr val="000000">
                <a:alpha val="46000"/>
              </a:srgbClr>
            </a:outerShdw>
            <a:softEdge rad="1270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56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Challenges. </a:t>
            </a:r>
            <a:endParaRPr lang="en-US" sz="5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676" y="1972594"/>
            <a:ext cx="5414912" cy="4059237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53" y="1946457"/>
            <a:ext cx="5428939" cy="4085374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07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864" y="241050"/>
            <a:ext cx="10353762" cy="97045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Gantt Chart</a:t>
            </a:r>
            <a:endParaRPr lang="en-US" sz="5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96" y="1751033"/>
            <a:ext cx="11765017" cy="448690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45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9947" y="2534654"/>
            <a:ext cx="4156169" cy="1356360"/>
          </a:xfrm>
        </p:spPr>
        <p:txBody>
          <a:bodyPr>
            <a:normAutofit/>
          </a:bodyPr>
          <a:lstStyle/>
          <a:p>
            <a:r>
              <a:rPr lang="en-US" sz="7200" dirty="0" smtClean="0"/>
              <a:t>DEMO</a:t>
            </a:r>
            <a:endParaRPr lang="en-US" sz="7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19726" cy="1211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6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3405</TotalTime>
  <Words>280</Words>
  <Application>Microsoft Office PowerPoint</Application>
  <PresentationFormat>Widescreen</PresentationFormat>
  <Paragraphs>93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Calisto MT</vt:lpstr>
      <vt:lpstr>Trebuchet MS</vt:lpstr>
      <vt:lpstr>Wingdings 2</vt:lpstr>
      <vt:lpstr>Slate</vt:lpstr>
      <vt:lpstr> QURU (Question Guru) </vt:lpstr>
      <vt:lpstr>Agenda</vt:lpstr>
      <vt:lpstr>Problem Statement </vt:lpstr>
      <vt:lpstr>Solution</vt:lpstr>
      <vt:lpstr>Literature Review </vt:lpstr>
      <vt:lpstr>Scope</vt:lpstr>
      <vt:lpstr>Methodology</vt:lpstr>
      <vt:lpstr>DATASET</vt:lpstr>
      <vt:lpstr>System Architecture</vt:lpstr>
      <vt:lpstr>DETAIL ARCHITECTURE</vt:lpstr>
      <vt:lpstr> Use Case:  Upload Content Generate Questions Preview Questions Print Questions. </vt:lpstr>
      <vt:lpstr>Class Diagram </vt:lpstr>
      <vt:lpstr>Challenges. </vt:lpstr>
      <vt:lpstr>Gantt Chart</vt:lpstr>
      <vt:lpstr>DEMO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Defense presentation QURU (Question Guru)</dc:title>
  <dc:creator>Muhammad Ahzam</dc:creator>
  <cp:lastModifiedBy>Muhammad Ahzam</cp:lastModifiedBy>
  <cp:revision>50</cp:revision>
  <dcterms:created xsi:type="dcterms:W3CDTF">2018-10-20T09:55:39Z</dcterms:created>
  <dcterms:modified xsi:type="dcterms:W3CDTF">2019-03-19T10:47:02Z</dcterms:modified>
</cp:coreProperties>
</file>